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DM Sans" panose="020F0502020204030204" pitchFamily="2" charset="0"/>
      <p:regular r:id="rId13"/>
    </p:embeddedFont>
    <p:embeddedFont>
      <p:font typeface="Libre Baskerville" panose="020F0502020204030204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4" d="100"/>
          <a:sy n="54" d="100"/>
        </p:scale>
        <p:origin x="1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ita Sharma" userId="eb7edcd3b8485c14" providerId="LiveId" clId="{796EAD97-CD58-47AE-A468-205BC07BAE5E}"/>
    <pc:docChg chg="modSld">
      <pc:chgData name="Nikita Sharma" userId="eb7edcd3b8485c14" providerId="LiveId" clId="{796EAD97-CD58-47AE-A468-205BC07BAE5E}" dt="2026-08-10T09:47:36.131" v="8" actId="20577"/>
      <pc:docMkLst>
        <pc:docMk/>
      </pc:docMkLst>
      <pc:sldChg chg="modSp mod">
        <pc:chgData name="Nikita Sharma" userId="eb7edcd3b8485c14" providerId="LiveId" clId="{796EAD97-CD58-47AE-A468-205BC07BAE5E}" dt="2026-08-10T09:47:36.131" v="8" actId="20577"/>
        <pc:sldMkLst>
          <pc:docMk/>
          <pc:sldMk cId="0" sldId="258"/>
        </pc:sldMkLst>
        <pc:spChg chg="mod">
          <ac:chgData name="Nikita Sharma" userId="eb7edcd3b8485c14" providerId="LiveId" clId="{796EAD97-CD58-47AE-A468-205BC07BAE5E}" dt="2026-08-10T09:47:36.131" v="8" actId="20577"/>
          <ac:spMkLst>
            <pc:docMk/>
            <pc:sldMk cId="0" sldId="258"/>
            <ac:spMk id="2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1111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Uncovering insights from 3,900 purchases to guide strategic business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00871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1455420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Comprehensive transaction data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35893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5897523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Columns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235893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demographics &amp; behavior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677995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37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10339626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677995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in Review Rating column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72585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Process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Loading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Imported dataset using pandas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216962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Initial Exploration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 check and summary statistics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640133" y="3377803"/>
            <a:ext cx="33098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Data Handling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Review Rating with median values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93790" y="5520214"/>
            <a:ext cx="29544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age groups and purchase frequency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428548" y="5520214"/>
            <a:ext cx="30128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Connected to MySQL for analysis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5984"/>
            <a:ext cx="82426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 Analysis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10076"/>
            <a:ext cx="7604284" cy="400109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738563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40320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4026337" y="6541651"/>
            <a:ext cx="4933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4672132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CC9D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4959906" y="6541651"/>
            <a:ext cx="7499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959096" y="24817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Insight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959096" y="3062883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 customers generate slightly higher total revenue than male customers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8959096" y="4043839"/>
            <a:ext cx="4885015" cy="1326713"/>
          </a:xfrm>
          <a:prstGeom prst="roundRect">
            <a:avLst>
              <a:gd name="adj" fmla="val 7181"/>
            </a:avLst>
          </a:prstGeom>
          <a:solidFill>
            <a:srgbClr val="F3E4B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5910" y="4387929"/>
            <a:ext cx="283488" cy="2268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96212" y="4327327"/>
            <a:ext cx="392108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Gender-based marketing strategies could optimize revenue streams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9125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High-Value Discount Users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24897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 using discounts while spending above average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3867031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514624" y="4101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Smart Shoppers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14624" y="4591883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spenders who maximize value with discounts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5416034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514624" y="5650468"/>
            <a:ext cx="32001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Opportunity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14624" y="6140887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premium customers with exclusive offers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295537"/>
            <a:ext cx="58126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Top-Rated Products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344478"/>
            <a:ext cx="382667" cy="340162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130" y="5344478"/>
            <a:ext cx="382667" cy="340162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2471" y="5344478"/>
            <a:ext cx="382667" cy="340162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1812" y="5344478"/>
            <a:ext cx="382667" cy="340162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1152" y="5344478"/>
            <a:ext cx="382667" cy="340162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3103840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0" name="Text 2"/>
          <p:cNvSpPr/>
          <p:nvPr/>
        </p:nvSpPr>
        <p:spPr>
          <a:xfrm>
            <a:off x="793790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Blouse</a:t>
            </a:r>
            <a:endParaRPr lang="en-US" sz="2200" dirty="0"/>
          </a:p>
        </p:txBody>
      </p:sp>
      <p:sp>
        <p:nvSpPr>
          <p:cNvPr id="11" name="Text 3"/>
          <p:cNvSpPr/>
          <p:nvPr/>
        </p:nvSpPr>
        <p:spPr>
          <a:xfrm>
            <a:off x="793790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 customer satisfaction</a:t>
            </a:r>
            <a:endParaRPr lang="en-US" sz="1750" dirty="0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5344478"/>
            <a:ext cx="382667" cy="340162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5233" y="5344478"/>
            <a:ext cx="382667" cy="340162"/>
          </a:xfrm>
          <a:prstGeom prst="rect">
            <a:avLst/>
          </a:prstGeom>
        </p:spPr>
      </p:pic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4574" y="5344478"/>
            <a:ext cx="382667" cy="340162"/>
          </a:xfrm>
          <a:prstGeom prst="rect">
            <a:avLst/>
          </a:prstGeom>
        </p:spPr>
      </p:pic>
      <p:pic>
        <p:nvPicPr>
          <p:cNvPr id="15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914" y="5344478"/>
            <a:ext cx="382667" cy="340162"/>
          </a:xfrm>
          <a:prstGeom prst="rect">
            <a:avLst/>
          </a:prstGeom>
        </p:spPr>
      </p:pic>
      <p:pic>
        <p:nvPicPr>
          <p:cNvPr id="16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3255" y="5344478"/>
            <a:ext cx="382667" cy="340162"/>
          </a:xfrm>
          <a:prstGeom prst="rect">
            <a:avLst/>
          </a:prstGeom>
        </p:spPr>
      </p:pic>
      <p:sp>
        <p:nvSpPr>
          <p:cNvPr id="17" name="Text 4"/>
          <p:cNvSpPr/>
          <p:nvPr/>
        </p:nvSpPr>
        <p:spPr>
          <a:xfrm>
            <a:off x="7545943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5"/>
          <p:cNvSpPr/>
          <p:nvPr/>
        </p:nvSpPr>
        <p:spPr>
          <a:xfrm>
            <a:off x="5235893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Dress</a:t>
            </a:r>
            <a:endParaRPr lang="en-US" sz="2200" dirty="0"/>
          </a:p>
        </p:txBody>
      </p:sp>
      <p:sp>
        <p:nvSpPr>
          <p:cNvPr id="19" name="Text 6"/>
          <p:cNvSpPr/>
          <p:nvPr/>
        </p:nvSpPr>
        <p:spPr>
          <a:xfrm>
            <a:off x="5235893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Consistently excellent reviews</a:t>
            </a:r>
            <a:endParaRPr lang="en-US" sz="1750" dirty="0"/>
          </a:p>
        </p:txBody>
      </p:sp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7995" y="5344478"/>
            <a:ext cx="382667" cy="340162"/>
          </a:xfrm>
          <a:prstGeom prst="rect">
            <a:avLst/>
          </a:prstGeom>
        </p:spPr>
      </p:pic>
      <p:pic>
        <p:nvPicPr>
          <p:cNvPr id="21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7336" y="5344478"/>
            <a:ext cx="382667" cy="340162"/>
          </a:xfrm>
          <a:prstGeom prst="rect">
            <a:avLst/>
          </a:prstGeom>
        </p:spPr>
      </p:pic>
      <p:pic>
        <p:nvPicPr>
          <p:cNvPr id="22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6677" y="5344478"/>
            <a:ext cx="382667" cy="340162"/>
          </a:xfrm>
          <a:prstGeom prst="rect">
            <a:avLst/>
          </a:prstGeom>
        </p:spPr>
      </p:pic>
      <p:pic>
        <p:nvPicPr>
          <p:cNvPr id="23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6017" y="5344478"/>
            <a:ext cx="382667" cy="340162"/>
          </a:xfrm>
          <a:prstGeom prst="rect">
            <a:avLst/>
          </a:prstGeom>
        </p:spPr>
      </p:pic>
      <p:pic>
        <p:nvPicPr>
          <p:cNvPr id="24" name="Image 1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5358" y="5344478"/>
            <a:ext cx="382667" cy="340162"/>
          </a:xfrm>
          <a:prstGeom prst="rect">
            <a:avLst/>
          </a:prstGeom>
        </p:spPr>
      </p:pic>
      <p:sp>
        <p:nvSpPr>
          <p:cNvPr id="25" name="Text 7"/>
          <p:cNvSpPr/>
          <p:nvPr/>
        </p:nvSpPr>
        <p:spPr>
          <a:xfrm>
            <a:off x="11988046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8"/>
          <p:cNvSpPr/>
          <p:nvPr/>
        </p:nvSpPr>
        <p:spPr>
          <a:xfrm>
            <a:off x="9677995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Shirt</a:t>
            </a:r>
            <a:endParaRPr lang="en-US" sz="2200" dirty="0"/>
          </a:p>
        </p:txBody>
      </p:sp>
      <p:sp>
        <p:nvSpPr>
          <p:cNvPr id="27" name="Text 9"/>
          <p:cNvSpPr/>
          <p:nvPr/>
        </p:nvSpPr>
        <p:spPr>
          <a:xfrm>
            <a:off x="9677995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 customer approval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1720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Shipping Preferences Impact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Express Shipping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$65</a:t>
            </a:r>
            <a:endParaRPr lang="en-US" sz="8900" dirty="0"/>
          </a:p>
        </p:txBody>
      </p:sp>
      <p:sp>
        <p:nvSpPr>
          <p:cNvPr id="6" name="Text 3"/>
          <p:cNvSpPr/>
          <p:nvPr/>
        </p:nvSpPr>
        <p:spPr>
          <a:xfrm>
            <a:off x="793790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56321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Standard Shipping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856321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$58</a:t>
            </a:r>
            <a:endParaRPr lang="en-US" sz="8900" dirty="0"/>
          </a:p>
        </p:txBody>
      </p:sp>
      <p:sp>
        <p:nvSpPr>
          <p:cNvPr id="9" name="Text 6"/>
          <p:cNvSpPr/>
          <p:nvPr/>
        </p:nvSpPr>
        <p:spPr>
          <a:xfrm>
            <a:off x="4856321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644949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 shipping customers spend 12% more per transaction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5631"/>
            <a:ext cx="59193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 Impact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478042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68%</a:t>
            </a:r>
            <a:endParaRPr lang="en-US" sz="4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932" y="2454712"/>
            <a:ext cx="3402330" cy="34023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55420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Higher Spend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Subscribers vs non-subscribers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920145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45%</a:t>
            </a:r>
            <a:endParaRPr lang="en-US" sz="4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035" y="2454712"/>
            <a:ext cx="3402330" cy="3402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97523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Share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subscription customers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362248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78%</a:t>
            </a:r>
            <a:endParaRPr lang="en-US" sz="4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6138" y="2454712"/>
            <a:ext cx="3402330" cy="34023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39626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Rate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7995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 purchase frequency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7413"/>
            <a:ext cx="70804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348" y="2369820"/>
            <a:ext cx="2152055" cy="13069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4892" y="2985849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357217" y="25966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57217" y="3087053"/>
            <a:ext cx="288000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15% - High value customers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187077" y="3689866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381" y="3733443"/>
            <a:ext cx="4304109" cy="13069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94892" y="4187547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6"/>
          <p:cNvSpPr/>
          <p:nvPr/>
        </p:nvSpPr>
        <p:spPr>
          <a:xfrm>
            <a:off x="6433304" y="3960257"/>
            <a:ext cx="25129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33304" y="4450675"/>
            <a:ext cx="25129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35% - Regular shoppers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6263164" y="5053489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94" y="5097066"/>
            <a:ext cx="6456164" cy="13069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94773" y="5551170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0"/>
          <p:cNvSpPr/>
          <p:nvPr/>
        </p:nvSpPr>
        <p:spPr>
          <a:xfrm>
            <a:off x="7509272" y="5323880"/>
            <a:ext cx="25426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New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09272" y="5814298"/>
            <a:ext cx="25426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 - First-time buyers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793790" y="66591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converting New to Returning, Returning to Loyal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25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4683" y="430768"/>
            <a:ext cx="5660827" cy="48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Recommendations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6034683" y="1155144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6198870" y="1319332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8053" y="1422083"/>
            <a:ext cx="211455" cy="2643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8870" y="1945838"/>
            <a:ext cx="198989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198870" y="2284571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benefits for subscribers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034683" y="2855952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6"/>
          <p:cNvSpPr/>
          <p:nvPr/>
        </p:nvSpPr>
        <p:spPr>
          <a:xfrm>
            <a:off x="6198870" y="3020139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8053" y="3122890"/>
            <a:ext cx="211455" cy="2643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98870" y="3646646"/>
            <a:ext cx="195810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6198870" y="3985379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 increase retention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34683" y="4556760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6198870" y="4720947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8053" y="4823698"/>
            <a:ext cx="211455" cy="26431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98870" y="5347454"/>
            <a:ext cx="1975009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198870" y="5686187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segments and express users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034683" y="6257568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4"/>
          <p:cNvSpPr/>
          <p:nvPr/>
        </p:nvSpPr>
        <p:spPr>
          <a:xfrm>
            <a:off x="6198870" y="6421755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8053" y="6524506"/>
            <a:ext cx="211455" cy="26431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98870" y="7048262"/>
            <a:ext cx="1986796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6198870" y="7386995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products in campaigns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277</Words>
  <Application>Microsoft Office PowerPoint</Application>
  <PresentationFormat>Custom</PresentationFormat>
  <Paragraphs>98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Libre Baskerville Light</vt:lpstr>
      <vt:lpstr>Libre Baskerville</vt:lpstr>
      <vt:lpstr>DM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Nikita Sharma</cp:lastModifiedBy>
  <cp:revision>1</cp:revision>
  <dcterms:created xsi:type="dcterms:W3CDTF">2025-10-14T02:52:14Z</dcterms:created>
  <dcterms:modified xsi:type="dcterms:W3CDTF">2026-08-10T09:47:42Z</dcterms:modified>
</cp:coreProperties>
</file>